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Inter SemiBold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gO+gtiKvDtBXC0e6TmqtJv8oPqH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Guillaume Manderscheid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D7BE0B-EB57-4EAD-AF07-22A51F12AEA9}">
  <a:tblStyle styleId="{D6D7BE0B-EB57-4EAD-AF07-22A51F12AEA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1E8"/>
          </a:solidFill>
        </a:fill>
      </a:tcStyle>
    </a:wholeTbl>
    <a:band1H>
      <a:tcTxStyle/>
      <a:tcStyle>
        <a:fill>
          <a:solidFill>
            <a:srgbClr val="FFE2CD"/>
          </a:solidFill>
        </a:fill>
      </a:tcStyle>
    </a:band1H>
    <a:band2H>
      <a:tcTxStyle/>
    </a:band2H>
    <a:band1V>
      <a:tcTxStyle/>
      <a:tcStyle>
        <a:fill>
          <a:solidFill>
            <a:srgbClr val="FFE2CD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InterSemiBold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Inter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Inter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4.xml"/><Relationship Id="rId33" Type="http://schemas.openxmlformats.org/officeDocument/2006/relationships/font" Target="fonts/InterMedium-bold.fntdata"/><Relationship Id="rId10" Type="http://schemas.openxmlformats.org/officeDocument/2006/relationships/slide" Target="slides/slide3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6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5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26T14:16:40.988">
    <p:pos x="6000" y="0"/>
    <p:text>si tu as des idées sur ce que pourrait vouloir dir réentrainement si besoin c'est top. Ca montre une projection sur la problématique business.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6SjH6tQ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fr-FR"/>
              <a:t>https://app.diagrams.net/?src=about#HSheikoh%2FREnergies_efficiency_prediction%2Fmain%2Fdiagrams%2Farchitecture.drawio#%7B%22pageId%22%3A%22bG0RTmb4xdSiPlx_l64v%22%7D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1. Collecte des données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météo OpenWeather (API)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satellite Landsat (USGS)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Historique RTE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Données solaires locales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2. Préparation &amp; nettoyage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Standardisation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Alignement temporel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Filtrage géographique Rhône-Alpes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Mise en qualité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3. Entraînement &amp; suivi du modèle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Entraînement local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Suivi via MLflow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Versionning dans Model Registry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fr-FR"/>
              <a:t>4. API &amp; Application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Modèle servi via une API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Dashboard Streamlit</a:t>
            </a:r>
            <a:endParaRPr/>
          </a:p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/>
              <a:t>EDA + prévisions 3 jours accessibles à l’utilisateur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479084d88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e479084d8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3" name="Google Shape;63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8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91" name="Google Shape;9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11" Type="http://schemas.openxmlformats.org/officeDocument/2006/relationships/image" Target="../media/image17.png"/><Relationship Id="rId10" Type="http://schemas.openxmlformats.org/officeDocument/2006/relationships/image" Target="../media/image11.png"/><Relationship Id="rId9" Type="http://schemas.openxmlformats.org/officeDocument/2006/relationships/image" Target="../media/image27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5.jp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10" Type="http://schemas.openxmlformats.org/officeDocument/2006/relationships/image" Target="../media/image30.png"/><Relationship Id="rId9" Type="http://schemas.openxmlformats.org/officeDocument/2006/relationships/image" Target="../media/image15.jp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Relationship Id="rId5" Type="http://schemas.openxmlformats.org/officeDocument/2006/relationships/image" Target="../media/image28.png"/><Relationship Id="rId6" Type="http://schemas.openxmlformats.org/officeDocument/2006/relationships/image" Target="../media/image25.png"/><Relationship Id="rId7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9.png"/><Relationship Id="rId6" Type="http://schemas.openxmlformats.org/officeDocument/2006/relationships/image" Target="../media/image19.png"/><Relationship Id="rId7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slide" Target="/ppt/slides/slide15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hyperlink" Target="https://github.com/Sheikoh/REnergies_efficiency_prediction_Lead.git" TargetMode="External"/><Relationship Id="rId5" Type="http://schemas.openxmlformats.org/officeDocument/2006/relationships/hyperlink" Target="https://renergies99lead-dashboard-lead.hf.space/" TargetMode="External"/><Relationship Id="rId6" Type="http://schemas.openxmlformats.org/officeDocument/2006/relationships/hyperlink" Target="https://renergies99lead-mlflow.hf.space/" TargetMode="External"/><Relationship Id="rId7" Type="http://schemas.openxmlformats.org/officeDocument/2006/relationships/hyperlink" Target="https://renergies99lead-api-renergy-lead.hf.space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www.rte-france.com/donnees-publications/eco2mix-donnees-temps-reel/telecharger-indicateurs" TargetMode="External"/><Relationship Id="rId5" Type="http://schemas.openxmlformats.org/officeDocument/2006/relationships/hyperlink" Target="https://code.usgs.gov/eros-user-services/accessing_landsat_data" TargetMode="External"/><Relationship Id="rId6" Type="http://schemas.openxmlformats.org/officeDocument/2006/relationships/hyperlink" Target="https://openweathermap.org/api/one-call-3" TargetMode="External"/><Relationship Id="rId7" Type="http://schemas.openxmlformats.org/officeDocument/2006/relationships/hyperlink" Target="https://www.ngdc.noaa.gov/stp/space-weather/swpc-products/daily_reports/solar_geophysical_activity_summaries/" TargetMode="External"/><Relationship Id="rId8" Type="http://schemas.openxmlformats.org/officeDocument/2006/relationships/hyperlink" Target="https://www.ngdc.noaa.gov/stp/space-weather/swpc-products/daily_reports/dayp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ctrTitle"/>
          </p:nvPr>
        </p:nvSpPr>
        <p:spPr>
          <a:xfrm>
            <a:off x="735474" y="1889984"/>
            <a:ext cx="8097441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-FR" sz="4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Optimisation du mix énergétique</a:t>
            </a:r>
            <a:endParaRPr sz="40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type="ctrTitle"/>
          </p:nvPr>
        </p:nvSpPr>
        <p:spPr>
          <a:xfrm>
            <a:off x="735475" y="2507684"/>
            <a:ext cx="5315100" cy="81145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31111"/>
              <a:buNone/>
            </a:pPr>
            <a:br>
              <a:rPr lang="fr-FR" sz="25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br>
              <a:rPr lang="fr-FR" sz="25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r>
              <a:rPr lang="fr-FR" sz="25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Structuration et amélioration d’une application de machine learning</a:t>
            </a:r>
            <a:endParaRPr sz="25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fr-FR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intérieur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9461" y="987052"/>
            <a:ext cx="5471864" cy="3068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5500" y="-17775"/>
            <a:ext cx="33354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50400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John DUBOS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Sandrine HARDY</a:t>
            </a:r>
            <a:endParaRPr/>
          </a:p>
          <a:p>
            <a:pPr indent="0" lvl="3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Victor NOUANE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>
            <p:ph type="title"/>
          </p:nvPr>
        </p:nvSpPr>
        <p:spPr>
          <a:xfrm>
            <a:off x="390600" y="1558399"/>
            <a:ext cx="2950300" cy="6320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Group members</a:t>
            </a:r>
            <a:endParaRPr sz="240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fr-FR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Pitch</a:t>
            </a:r>
            <a:endParaRPr b="0"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/>
          <p:nvPr/>
        </p:nvSpPr>
        <p:spPr>
          <a:xfrm>
            <a:off x="524652" y="3010126"/>
            <a:ext cx="1078173" cy="14025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Objectifs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844188" y="3010126"/>
            <a:ext cx="7161234" cy="140256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Améliorer la robustesse et la fiabilité du pipeline de données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Automatiser les flux de données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Mettre en place une intégration et un développement continus CICD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Mettre en place un monitoring et un entrainement continu du modèle</a:t>
            </a:r>
            <a:endParaRPr/>
          </a:p>
        </p:txBody>
      </p:sp>
      <p:grpSp>
        <p:nvGrpSpPr>
          <p:cNvPr id="122" name="Google Shape;122;p3"/>
          <p:cNvGrpSpPr/>
          <p:nvPr/>
        </p:nvGrpSpPr>
        <p:grpSpPr>
          <a:xfrm>
            <a:off x="228832" y="2911625"/>
            <a:ext cx="469085" cy="469085"/>
            <a:chOff x="369206" y="1255438"/>
            <a:chExt cx="469085" cy="469085"/>
          </a:xfrm>
        </p:grpSpPr>
        <p:sp>
          <p:nvSpPr>
            <p:cNvPr id="123" name="Google Shape;123;p3"/>
            <p:cNvSpPr/>
            <p:nvPr/>
          </p:nvSpPr>
          <p:spPr>
            <a:xfrm>
              <a:off x="369206" y="1255438"/>
              <a:ext cx="469085" cy="469085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FFC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4" name="Google Shape;124;p3"/>
            <p:cNvPicPr preferRelativeResize="0"/>
            <p:nvPr/>
          </p:nvPicPr>
          <p:blipFill rotWithShape="1">
            <a:blip r:embed="rId4">
              <a:alphaModFix/>
            </a:blip>
            <a:srcRect b="0" l="0" r="0" t="4187"/>
            <a:stretch/>
          </p:blipFill>
          <p:spPr>
            <a:xfrm>
              <a:off x="463375" y="1329652"/>
              <a:ext cx="306524" cy="2936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5" name="Google Shape;125;p3"/>
          <p:cNvSpPr txBox="1"/>
          <p:nvPr>
            <p:ph idx="12" type="sldNum"/>
          </p:nvPr>
        </p:nvSpPr>
        <p:spPr>
          <a:xfrm>
            <a:off x="8472458" y="4947196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24652" y="1167358"/>
            <a:ext cx="1078173" cy="1513318"/>
          </a:xfrm>
          <a:prstGeom prst="rect">
            <a:avLst/>
          </a:prstGeom>
          <a:solidFill>
            <a:srgbClr val="C3FFFC"/>
          </a:solidFill>
          <a:ln cap="flat" cmpd="sng" w="9525">
            <a:solidFill>
              <a:srgbClr val="75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fr-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Besoin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1776980" y="1167359"/>
            <a:ext cx="7161234" cy="151331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 : équipe de data scientists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 : Renergy, prédiction de la capacité de production électrique solaire en fonction de données météo et d’activité solaire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Besoin : professionnaliser l’application et la maintenir en production  </a:t>
            </a:r>
            <a:endParaRPr/>
          </a:p>
        </p:txBody>
      </p:sp>
      <p:pic>
        <p:nvPicPr>
          <p:cNvPr descr="Une image contenant cercle, Graphique, clipart, conception&#10;&#10;Le contenu généré par l’IA peut être incorrect." id="128" name="Google Shape;12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043" y="1024124"/>
            <a:ext cx="521218" cy="521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projet existant </a:t>
            </a:r>
            <a:endParaRPr/>
          </a:p>
        </p:txBody>
      </p:sp>
      <p:pic>
        <p:nvPicPr>
          <p:cNvPr id="134" name="Google Shape;1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Image du projet existant representant le flux : collecte des données, préparation et nettoyage, entrainement et suivi du modèle, API et application&#10;" id="137" name="Google Shape;1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1063811"/>
            <a:ext cx="8107645" cy="359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5330" y="546391"/>
            <a:ext cx="446942" cy="286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Points d’amélioration identifiés</a:t>
            </a:r>
            <a:endParaRPr/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Image du projet existant representant le flux : collecte des données, préparation et nettoyage, entrainement et suivi du modèle, API et application&#10;" id="147" name="Google Shape;147;p5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463375" y="1063811"/>
            <a:ext cx="8107645" cy="3596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5"/>
          <p:cNvGrpSpPr/>
          <p:nvPr/>
        </p:nvGrpSpPr>
        <p:grpSpPr>
          <a:xfrm>
            <a:off x="3850211" y="1084982"/>
            <a:ext cx="1697318" cy="1764174"/>
            <a:chOff x="6873705" y="403309"/>
            <a:chExt cx="1697318" cy="1764174"/>
          </a:xfrm>
        </p:grpSpPr>
        <p:sp>
          <p:nvSpPr>
            <p:cNvPr id="149" name="Google Shape;149;p5"/>
            <p:cNvSpPr/>
            <p:nvPr/>
          </p:nvSpPr>
          <p:spPr>
            <a:xfrm>
              <a:off x="6873707" y="811160"/>
              <a:ext cx="1697316" cy="13563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Monitorer le modèle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Surveiller l’évolution des données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Réentraîner au besoin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6873705" y="403309"/>
              <a:ext cx="1697315" cy="587971"/>
            </a:xfrm>
            <a:custGeom>
              <a:rect b="b" l="l" r="r" t="t"/>
              <a:pathLst>
                <a:path extrusionOk="0" h="1199490" w="2452805">
                  <a:moveTo>
                    <a:pt x="0" y="0"/>
                  </a:moveTo>
                  <a:lnTo>
                    <a:pt x="2452805" y="0"/>
                  </a:lnTo>
                  <a:lnTo>
                    <a:pt x="2452805" y="955118"/>
                  </a:lnTo>
                  <a:lnTo>
                    <a:pt x="1226402" y="1199490"/>
                  </a:lnTo>
                  <a:lnTo>
                    <a:pt x="0" y="955118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ctr" bIns="72000" lIns="72000" spcFirstLastPara="1" rIns="72000" wrap="square" tIns="10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b="1" i="0" lang="fr-FR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Modèle</a:t>
              </a:r>
              <a:endPara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5"/>
          <p:cNvGrpSpPr/>
          <p:nvPr/>
        </p:nvGrpSpPr>
        <p:grpSpPr>
          <a:xfrm>
            <a:off x="1606135" y="1379098"/>
            <a:ext cx="1697318" cy="2965134"/>
            <a:chOff x="4849520" y="1579512"/>
            <a:chExt cx="1697318" cy="2965134"/>
          </a:xfrm>
        </p:grpSpPr>
        <p:sp>
          <p:nvSpPr>
            <p:cNvPr id="152" name="Google Shape;152;p5"/>
            <p:cNvSpPr/>
            <p:nvPr/>
          </p:nvSpPr>
          <p:spPr>
            <a:xfrm>
              <a:off x="4849522" y="1987363"/>
              <a:ext cx="1697316" cy="255728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 sources de données 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séparer les flux historiques et prévisionnels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mettre à jour les données historiques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Process d’ETL :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à structurer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à automatiser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4849520" y="1579512"/>
              <a:ext cx="1697315" cy="587971"/>
            </a:xfrm>
            <a:custGeom>
              <a:rect b="b" l="l" r="r" t="t"/>
              <a:pathLst>
                <a:path extrusionOk="0" h="1199490" w="2452805">
                  <a:moveTo>
                    <a:pt x="0" y="0"/>
                  </a:moveTo>
                  <a:lnTo>
                    <a:pt x="2452805" y="0"/>
                  </a:lnTo>
                  <a:lnTo>
                    <a:pt x="2452805" y="955118"/>
                  </a:lnTo>
                  <a:lnTo>
                    <a:pt x="1226402" y="1199490"/>
                  </a:lnTo>
                  <a:lnTo>
                    <a:pt x="0" y="955118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txBody>
            <a:bodyPr anchorCtr="0" anchor="ctr" bIns="72000" lIns="72000" spcFirstLastPara="1" rIns="72000" wrap="square" tIns="10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b="1" i="0" lang="fr-FR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Données</a:t>
              </a:r>
              <a:endPara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5"/>
          <p:cNvGrpSpPr/>
          <p:nvPr/>
        </p:nvGrpSpPr>
        <p:grpSpPr>
          <a:xfrm>
            <a:off x="3850208" y="3256831"/>
            <a:ext cx="1697318" cy="1483360"/>
            <a:chOff x="6873705" y="403309"/>
            <a:chExt cx="1697318" cy="1483360"/>
          </a:xfrm>
        </p:grpSpPr>
        <p:sp>
          <p:nvSpPr>
            <p:cNvPr id="155" name="Google Shape;155;p5"/>
            <p:cNvSpPr/>
            <p:nvPr/>
          </p:nvSpPr>
          <p:spPr>
            <a:xfrm>
              <a:off x="6873707" y="811160"/>
              <a:ext cx="1697316" cy="10755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Intégration et déploiement continus à mettre en place CICD avec tests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6873705" y="403309"/>
              <a:ext cx="1697315" cy="587971"/>
            </a:xfrm>
            <a:custGeom>
              <a:rect b="b" l="l" r="r" t="t"/>
              <a:pathLst>
                <a:path extrusionOk="0" h="1199490" w="2452805">
                  <a:moveTo>
                    <a:pt x="0" y="0"/>
                  </a:moveTo>
                  <a:lnTo>
                    <a:pt x="2452805" y="0"/>
                  </a:lnTo>
                  <a:lnTo>
                    <a:pt x="2452805" y="955118"/>
                  </a:lnTo>
                  <a:lnTo>
                    <a:pt x="1226402" y="1199490"/>
                  </a:lnTo>
                  <a:lnTo>
                    <a:pt x="0" y="955118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72000" lIns="0" spcFirstLastPara="1" rIns="0" wrap="square" tIns="10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b="1" i="0" lang="fr-FR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Développement</a:t>
              </a:r>
              <a:endPara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" name="Google Shape;157;p5"/>
          <p:cNvGrpSpPr/>
          <p:nvPr/>
        </p:nvGrpSpPr>
        <p:grpSpPr>
          <a:xfrm>
            <a:off x="6507764" y="2002687"/>
            <a:ext cx="1697315" cy="1541903"/>
            <a:chOff x="6873705" y="403309"/>
            <a:chExt cx="1697318" cy="1580004"/>
          </a:xfrm>
        </p:grpSpPr>
        <p:sp>
          <p:nvSpPr>
            <p:cNvPr id="158" name="Google Shape;158;p5"/>
            <p:cNvSpPr/>
            <p:nvPr/>
          </p:nvSpPr>
          <p:spPr>
            <a:xfrm>
              <a:off x="6873707" y="811161"/>
              <a:ext cx="1697316" cy="1172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Automatiser :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la mise à jour des données de prévision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fr-FR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- les prédictions</a:t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6873705" y="403309"/>
              <a:ext cx="1697315" cy="587971"/>
            </a:xfrm>
            <a:custGeom>
              <a:rect b="b" l="l" r="r" t="t"/>
              <a:pathLst>
                <a:path extrusionOk="0" h="1199490" w="2452805">
                  <a:moveTo>
                    <a:pt x="0" y="0"/>
                  </a:moveTo>
                  <a:lnTo>
                    <a:pt x="2452805" y="0"/>
                  </a:lnTo>
                  <a:lnTo>
                    <a:pt x="2452805" y="955118"/>
                  </a:lnTo>
                  <a:lnTo>
                    <a:pt x="1226402" y="1199490"/>
                  </a:lnTo>
                  <a:lnTo>
                    <a:pt x="0" y="955118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anchorCtr="0" anchor="ctr" bIns="72000" lIns="72000" spcFirstLastPara="1" rIns="72000" wrap="square" tIns="10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None/>
              </a:pPr>
              <a:r>
                <a:rPr b="1" i="0" lang="fr-FR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 b="1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e image contenant Bleu électrique, bleu, symbole, ligne&#10;&#10;Le contenu généré par l’IA peut être incorrect." id="160" name="Google Shape;16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03196" y="69311"/>
            <a:ext cx="96782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>
            <p:ph idx="4294967295" type="ctrTitle"/>
          </p:nvPr>
        </p:nvSpPr>
        <p:spPr>
          <a:xfrm>
            <a:off x="1192664" y="223556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Process et pipeline data</a:t>
            </a:r>
            <a:endParaRPr/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30309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Une image contenant texte, capture d’écran, diagramme&#10;&#10;Le contenu généré par l’IA peut être incorrect." id="169" name="Google Shape;169;p6"/>
          <p:cNvPicPr preferRelativeResize="0"/>
          <p:nvPr/>
        </p:nvPicPr>
        <p:blipFill rotWithShape="1">
          <a:blip r:embed="rId4">
            <a:alphaModFix/>
          </a:blip>
          <a:srcRect b="18101" l="0" r="0" t="10484"/>
          <a:stretch/>
        </p:blipFill>
        <p:spPr>
          <a:xfrm>
            <a:off x="1040275" y="769626"/>
            <a:ext cx="7652398" cy="4098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 image contenant Police, logo, Graphique, blanc&#10;&#10;Le contenu généré par l’IA peut être incorrect.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7986" y="2423322"/>
            <a:ext cx="1044080" cy="71871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 txBox="1"/>
          <p:nvPr>
            <p:ph idx="4294967295" type="ctrTitle"/>
          </p:nvPr>
        </p:nvSpPr>
        <p:spPr>
          <a:xfrm>
            <a:off x="1192664" y="223556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Zoom sur l’ETL – données RTE</a:t>
            </a:r>
            <a:endParaRPr/>
          </a:p>
        </p:txBody>
      </p:sp>
      <p:pic>
        <p:nvPicPr>
          <p:cNvPr id="176" name="Google Shape;1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30309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Une image contenant texte, capture d’écran, logiciel, Page web&#10;&#10;Le contenu généré par l’IA peut être incorrect." id="179" name="Google Shape;17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761" y="2659511"/>
            <a:ext cx="1519439" cy="141702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7"/>
          <p:cNvSpPr/>
          <p:nvPr/>
        </p:nvSpPr>
        <p:spPr>
          <a:xfrm>
            <a:off x="408481" y="1693529"/>
            <a:ext cx="1116000" cy="828202"/>
          </a:xfrm>
          <a:prstGeom prst="rect">
            <a:avLst/>
          </a:prstGeom>
          <a:noFill/>
          <a:ln cap="flat" cmpd="sng" w="12700">
            <a:solidFill>
              <a:srgbClr val="0071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Données brutes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.zip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594170" y="1731271"/>
            <a:ext cx="1188000" cy="75271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 b="0" i="0" sz="1400" u="none" cap="none" strike="noStrike">
              <a:solidFill>
                <a:srgbClr val="004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037550" y="1731271"/>
            <a:ext cx="1188000" cy="75271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Transform</a:t>
            </a:r>
            <a:endParaRPr b="0" i="0" sz="1400" u="none" cap="none" strike="noStrike">
              <a:solidFill>
                <a:srgbClr val="004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480930" y="1731271"/>
            <a:ext cx="1188000" cy="75271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FF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 b="0" i="0" sz="1400" u="none" cap="none" strike="noStrike">
              <a:solidFill>
                <a:srgbClr val="004B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2851860" y="1693529"/>
            <a:ext cx="1116000" cy="828202"/>
          </a:xfrm>
          <a:prstGeom prst="rect">
            <a:avLst/>
          </a:prstGeom>
          <a:noFill/>
          <a:ln cap="flat" cmpd="sng" w="12700">
            <a:solidFill>
              <a:srgbClr val="0071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Données extraites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.xlsx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5295240" y="1693529"/>
            <a:ext cx="1116000" cy="828202"/>
          </a:xfrm>
          <a:prstGeom prst="rect">
            <a:avLst/>
          </a:prstGeom>
          <a:noFill/>
          <a:ln cap="flat" cmpd="sng" w="12700">
            <a:solidFill>
              <a:srgbClr val="0071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Données nettoyées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.csv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738618" y="1693529"/>
            <a:ext cx="1116000" cy="828202"/>
          </a:xfrm>
          <a:prstGeom prst="rect">
            <a:avLst/>
          </a:prstGeom>
          <a:noFill/>
          <a:ln cap="flat" cmpd="sng" w="12700">
            <a:solidFill>
              <a:srgbClr val="0071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Données structurées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400" u="none" cap="none" strike="noStrike">
                <a:solidFill>
                  <a:srgbClr val="004B53"/>
                </a:solidFill>
                <a:latin typeface="Arial"/>
                <a:ea typeface="Arial"/>
                <a:cs typeface="Arial"/>
                <a:sym typeface="Arial"/>
              </a:rPr>
              <a:t>BDD</a:t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2306015" y="2907323"/>
            <a:ext cx="4026145" cy="1047262"/>
          </a:xfrm>
          <a:prstGeom prst="rect">
            <a:avLst/>
          </a:prstGeom>
          <a:noFill/>
          <a:ln cap="flat" cmpd="sng" w="25400">
            <a:solidFill>
              <a:srgbClr val="4154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e image contenant texte, Police, symbole, logo&#10;&#10;Le contenu généré par l’IA peut être incorrect." id="188" name="Google Shape;18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88170" y="2721520"/>
            <a:ext cx="1425063" cy="55630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/>
          <p:nvPr/>
        </p:nvSpPr>
        <p:spPr>
          <a:xfrm>
            <a:off x="7143262" y="2897799"/>
            <a:ext cx="1711356" cy="1047262"/>
          </a:xfrm>
          <a:prstGeom prst="rect">
            <a:avLst/>
          </a:prstGeom>
          <a:noFill/>
          <a:ln cap="flat" cmpd="sng" w="25400">
            <a:solidFill>
              <a:srgbClr val="4154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6727" y="2999674"/>
            <a:ext cx="762066" cy="236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symbole&#10;&#10;Le contenu généré par l’IA peut être incorrect." id="191" name="Google Shape;19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31804" y="3105172"/>
            <a:ext cx="624894" cy="6325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conception&#10;&#10;Le contenu généré par l’IA peut être incorrect." id="192" name="Google Shape;192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30938" y="3142037"/>
            <a:ext cx="624894" cy="65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54382" y="3312148"/>
            <a:ext cx="426757" cy="556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7"/>
          <p:cNvPicPr preferRelativeResize="0"/>
          <p:nvPr/>
        </p:nvPicPr>
        <p:blipFill rotWithShape="1">
          <a:blip r:embed="rId11">
            <a:alphaModFix/>
          </a:blip>
          <a:srcRect b="19432" l="18363" r="18027" t="15290"/>
          <a:stretch/>
        </p:blipFill>
        <p:spPr>
          <a:xfrm>
            <a:off x="1577446" y="1572143"/>
            <a:ext cx="407149" cy="41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7"/>
          <p:cNvPicPr preferRelativeResize="0"/>
          <p:nvPr/>
        </p:nvPicPr>
        <p:blipFill rotWithShape="1">
          <a:blip r:embed="rId11">
            <a:alphaModFix/>
          </a:blip>
          <a:srcRect b="19432" l="18363" r="18027" t="15290"/>
          <a:stretch/>
        </p:blipFill>
        <p:spPr>
          <a:xfrm>
            <a:off x="4020825" y="1546668"/>
            <a:ext cx="407149" cy="41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7"/>
          <p:cNvPicPr preferRelativeResize="0"/>
          <p:nvPr/>
        </p:nvPicPr>
        <p:blipFill rotWithShape="1">
          <a:blip r:embed="rId11">
            <a:alphaModFix/>
          </a:blip>
          <a:srcRect b="19432" l="18363" r="18027" t="15290"/>
          <a:stretch/>
        </p:blipFill>
        <p:spPr>
          <a:xfrm>
            <a:off x="6464205" y="1557306"/>
            <a:ext cx="407149" cy="417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47058"/>
          </a:schemeClr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/>
          <p:nvPr>
            <p:ph idx="4294967295" type="ctrTitle"/>
          </p:nvPr>
        </p:nvSpPr>
        <p:spPr>
          <a:xfrm>
            <a:off x="1192664" y="223556"/>
            <a:ext cx="6864998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Application : automatisation des calls API</a:t>
            </a:r>
            <a:endParaRPr/>
          </a:p>
        </p:txBody>
      </p:sp>
      <p:pic>
        <p:nvPicPr>
          <p:cNvPr id="202" name="Google Shape;2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30309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1125415" y="3132742"/>
            <a:ext cx="7213500" cy="1502700"/>
          </a:xfrm>
          <a:prstGeom prst="rect">
            <a:avLst/>
          </a:prstGeom>
          <a:noFill/>
          <a:ln cap="flat" cmpd="sng" w="25400">
            <a:solidFill>
              <a:srgbClr val="0071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e image contenant texte, capture d’écran, diagramme&#10;&#10;Le contenu généré par l’IA peut être incorrect." id="206" name="Google Shape;206;p8"/>
          <p:cNvPicPr preferRelativeResize="0"/>
          <p:nvPr/>
        </p:nvPicPr>
        <p:blipFill rotWithShape="1">
          <a:blip r:embed="rId4">
            <a:alphaModFix/>
          </a:blip>
          <a:srcRect b="18101" l="0" r="0" t="55528"/>
          <a:stretch/>
        </p:blipFill>
        <p:spPr>
          <a:xfrm>
            <a:off x="1040275" y="3132742"/>
            <a:ext cx="7652397" cy="15135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tting started with Airflow: how to master your workflow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29192" r="33383" t="0"/>
          <a:stretch/>
        </p:blipFill>
        <p:spPr>
          <a:xfrm>
            <a:off x="306741" y="933523"/>
            <a:ext cx="799133" cy="111213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 txBox="1"/>
          <p:nvPr/>
        </p:nvSpPr>
        <p:spPr>
          <a:xfrm>
            <a:off x="1192664" y="933523"/>
            <a:ext cx="6580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Mise à jour des données historiques : quotidienne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Mise à jour des données prévisionnelles : quotidienne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▪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Réalisation de la prédiction</a:t>
            </a:r>
            <a:endParaRPr/>
          </a:p>
        </p:txBody>
      </p:sp>
      <p:pic>
        <p:nvPicPr>
          <p:cNvPr descr="Une image contenant texte, capture d’écran, diagramme&#10;&#10;Le contenu généré par l’IA peut être incorrect." id="209" name="Google Shape;209;p8"/>
          <p:cNvPicPr preferRelativeResize="0"/>
          <p:nvPr/>
        </p:nvPicPr>
        <p:blipFill rotWithShape="1">
          <a:blip r:embed="rId4">
            <a:alphaModFix/>
          </a:blip>
          <a:srcRect b="45715" l="20729" r="62010" t="30358"/>
          <a:stretch/>
        </p:blipFill>
        <p:spPr>
          <a:xfrm>
            <a:off x="2618154" y="1757233"/>
            <a:ext cx="1320801" cy="13732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e image contenant texte, capture d’écran, Police, Marque&#10;&#10;Le contenu généré par l’IA peut être incorrect." id="210" name="Google Shape;21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2924" y="1936082"/>
            <a:ext cx="605692" cy="1046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33698" y="1715225"/>
            <a:ext cx="2905226" cy="133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47058"/>
          </a:schemeClr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 txBox="1"/>
          <p:nvPr>
            <p:ph idx="4294967295" type="ctrTitle"/>
          </p:nvPr>
        </p:nvSpPr>
        <p:spPr>
          <a:xfrm>
            <a:off x="1192664" y="223556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Développement : CICD</a:t>
            </a:r>
            <a:endParaRPr/>
          </a:p>
        </p:txBody>
      </p:sp>
      <p:pic>
        <p:nvPicPr>
          <p:cNvPr id="217" name="Google Shape;2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30309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1203571" y="739873"/>
            <a:ext cx="5009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 On push »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de toutes les fonctions de l’API (selon le repository mis à jour)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train.py : réentrainement (selon résultat du test)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iting my first GitHub Action. To write a custom GitHub ..." id="221" name="Google Shape;22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56654"/>
            <a:ext cx="1201205" cy="850614"/>
          </a:xfrm>
          <a:prstGeom prst="rect">
            <a:avLst/>
          </a:prstGeom>
          <a:noFill/>
          <a:ln>
            <a:noFill/>
          </a:ln>
        </p:spPr>
      </p:pic>
      <p:sp>
        <p:nvSpPr>
          <p:cNvPr descr="Image" id="222" name="Google Shape;222;p9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7387" y="4116322"/>
            <a:ext cx="82962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92" y="1819748"/>
            <a:ext cx="1689650" cy="98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86763" y="2419350"/>
            <a:ext cx="4463476" cy="90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546" y="3436004"/>
            <a:ext cx="2685250" cy="79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tting started with Airflow: how to master your workflow" id="227" name="Google Shape;227;p9"/>
          <p:cNvPicPr preferRelativeResize="0"/>
          <p:nvPr/>
        </p:nvPicPr>
        <p:blipFill rotWithShape="1">
          <a:blip r:embed="rId9">
            <a:alphaModFix/>
          </a:blip>
          <a:srcRect b="0" l="29192" r="33383" t="0"/>
          <a:stretch/>
        </p:blipFill>
        <p:spPr>
          <a:xfrm>
            <a:off x="8249995" y="3104906"/>
            <a:ext cx="799133" cy="1112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88866" y="1979915"/>
            <a:ext cx="1604191" cy="118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47058"/>
          </a:schemeClr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 txBox="1"/>
          <p:nvPr>
            <p:ph idx="4294967295" type="ctrTitle"/>
          </p:nvPr>
        </p:nvSpPr>
        <p:spPr>
          <a:xfrm>
            <a:off x="1192664" y="223556"/>
            <a:ext cx="6067828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Modèle : monitoring et réentrainement</a:t>
            </a:r>
            <a:endParaRPr/>
          </a:p>
        </p:txBody>
      </p:sp>
      <p:pic>
        <p:nvPicPr>
          <p:cNvPr id="234" name="Google Shape;23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30309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0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37" name="Google Shape;237;p10"/>
          <p:cNvSpPr txBox="1"/>
          <p:nvPr/>
        </p:nvSpPr>
        <p:spPr>
          <a:xfrm>
            <a:off x="193300" y="858100"/>
            <a:ext cx="57219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Mensuellement, après mise à jour des données historiques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Monitoring des données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Détection des data drift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Réentrainement si besoin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300" y="2413122"/>
            <a:ext cx="85534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 txBox="1"/>
          <p:nvPr/>
        </p:nvSpPr>
        <p:spPr>
          <a:xfrm>
            <a:off x="4170125" y="1378325"/>
            <a:ext cx="497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Monitoring du modèle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Vérification des performances du mois</a:t>
            </a:r>
            <a:r>
              <a:rPr lang="fr-FR" sz="1600"/>
              <a:t> </a:t>
            </a: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précédent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Réentrainement si besoin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vidently Closes $15M Series A Funding | Chris Neville" id="240" name="Google Shape;240;p10"/>
          <p:cNvPicPr preferRelativeResize="0"/>
          <p:nvPr/>
        </p:nvPicPr>
        <p:blipFill rotWithShape="1">
          <a:blip r:embed="rId6">
            <a:alphaModFix/>
          </a:blip>
          <a:srcRect b="27443" l="15360" r="9424" t="25122"/>
          <a:stretch/>
        </p:blipFill>
        <p:spPr>
          <a:xfrm>
            <a:off x="3193201" y="1378335"/>
            <a:ext cx="976924" cy="337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tting started with Airflow: how to master your workflow" id="241" name="Google Shape;241;p10"/>
          <p:cNvPicPr preferRelativeResize="0"/>
          <p:nvPr/>
        </p:nvPicPr>
        <p:blipFill rotWithShape="1">
          <a:blip r:embed="rId7">
            <a:alphaModFix/>
          </a:blip>
          <a:srcRect b="0" l="29192" r="33383" t="0"/>
          <a:stretch/>
        </p:blipFill>
        <p:spPr>
          <a:xfrm>
            <a:off x="5700005" y="914760"/>
            <a:ext cx="282336" cy="39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6430325" y="1421488"/>
            <a:ext cx="317100" cy="2514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47060"/>
          </a:schemeClr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479084d88_0_3"/>
          <p:cNvSpPr txBox="1"/>
          <p:nvPr>
            <p:ph idx="4294967295" type="ctrTitle"/>
          </p:nvPr>
        </p:nvSpPr>
        <p:spPr>
          <a:xfrm>
            <a:off x="1192664" y="223556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Développement : CICD</a:t>
            </a:r>
            <a:endParaRPr/>
          </a:p>
        </p:txBody>
      </p:sp>
      <p:pic>
        <p:nvPicPr>
          <p:cNvPr id="248" name="Google Shape;248;g3e479084d88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30309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e479084d88_0_3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e479084d88_0_3"/>
          <p:cNvSpPr txBox="1"/>
          <p:nvPr>
            <p:ph idx="12" type="sldNum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51" name="Google Shape;251;g3e479084d88_0_3"/>
          <p:cNvSpPr txBox="1"/>
          <p:nvPr/>
        </p:nvSpPr>
        <p:spPr>
          <a:xfrm>
            <a:off x="1203571" y="1291832"/>
            <a:ext cx="5009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« On push »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de toutes les fonctions de l’API (selon le repository mis à jour)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fr-F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train.py : réentrainement (selon résultat du test)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iting my first GitHub Action. To write a custom GitHub ..." id="252" name="Google Shape;252;g3e479084d88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83440"/>
            <a:ext cx="1201205" cy="850614"/>
          </a:xfrm>
          <a:prstGeom prst="rect">
            <a:avLst/>
          </a:prstGeom>
          <a:noFill/>
          <a:ln>
            <a:noFill/>
          </a:ln>
        </p:spPr>
      </p:pic>
      <p:sp>
        <p:nvSpPr>
          <p:cNvPr descr="Image" id="253" name="Google Shape;253;g3e479084d88_0_3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g3e479084d88_0_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3231" y="1444877"/>
            <a:ext cx="2226042" cy="68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e479084d88_0_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262" y="2874183"/>
            <a:ext cx="82962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tting started with Airflow: how to master your workflow" id="256" name="Google Shape;256;g3e479084d88_0_3"/>
          <p:cNvPicPr preferRelativeResize="0"/>
          <p:nvPr/>
        </p:nvPicPr>
        <p:blipFill rotWithShape="1">
          <a:blip r:embed="rId7">
            <a:alphaModFix/>
          </a:blip>
          <a:srcRect b="0" l="29192" r="33383" t="0"/>
          <a:stretch/>
        </p:blipFill>
        <p:spPr>
          <a:xfrm>
            <a:off x="8168170" y="3406967"/>
            <a:ext cx="799133" cy="1112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47058"/>
          </a:schemeClr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 txBox="1"/>
          <p:nvPr>
            <p:ph type="title"/>
          </p:nvPr>
        </p:nvSpPr>
        <p:spPr>
          <a:xfrm>
            <a:off x="1266092" y="445025"/>
            <a:ext cx="7566208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What’s next ?</a:t>
            </a:r>
            <a:endParaRPr/>
          </a:p>
        </p:txBody>
      </p:sp>
      <p:sp>
        <p:nvSpPr>
          <p:cNvPr id="262" name="Google Shape;26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63" name="Google Shape;263;p11"/>
          <p:cNvSpPr txBox="1"/>
          <p:nvPr>
            <p:ph idx="4294967295" type="body"/>
          </p:nvPr>
        </p:nvSpPr>
        <p:spPr>
          <a:xfrm>
            <a:off x="695569" y="1147003"/>
            <a:ext cx="7158893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fr-FR"/>
              <a:t>Données : ETL données RTE fait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fr-FR"/>
              <a:t>Reste à l’implémenter pour les autres sources de données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fr-FR"/>
              <a:t>Pipeline en place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fr-FR"/>
              <a:t>reste à finaliser l’implémentation des tests sur les modèles et data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fr-FR"/>
              <a:t>Modèle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fr-FR"/>
              <a:t>Monitoring du modèle à mettre en place</a:t>
            </a:r>
            <a:endParaRPr/>
          </a:p>
        </p:txBody>
      </p:sp>
      <p:pic>
        <p:nvPicPr>
          <p:cNvPr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30309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/>
          <p:nvPr/>
        </p:nvSpPr>
        <p:spPr>
          <a:xfrm>
            <a:off x="5512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52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questions ?</a:t>
            </a:r>
            <a:endParaRPr b="0"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71" name="Google Shape;2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/>
          <p:nvPr/>
        </p:nvSpPr>
        <p:spPr>
          <a:xfrm>
            <a:off x="1799442" y="3228155"/>
            <a:ext cx="1485799" cy="545226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1799442" y="3300713"/>
            <a:ext cx="148579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Ressources projet en annexes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12"/>
          <p:cNvCxnSpPr/>
          <p:nvPr/>
        </p:nvCxnSpPr>
        <p:spPr>
          <a:xfrm>
            <a:off x="1200757" y="3500768"/>
            <a:ext cx="569861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/>
          <p:nvPr>
            <p:ph idx="4294967295" type="ctrTitle"/>
          </p:nvPr>
        </p:nvSpPr>
        <p:spPr>
          <a:xfrm>
            <a:off x="1040272" y="1702750"/>
            <a:ext cx="53151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-FR" sz="45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Annexes</a:t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1" name="Google Shape;2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Ressources projet</a:t>
            </a:r>
            <a:endParaRPr/>
          </a:p>
        </p:txBody>
      </p:sp>
      <p:pic>
        <p:nvPicPr>
          <p:cNvPr id="288" name="Google Shape;2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4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4"/>
          <p:cNvSpPr txBox="1"/>
          <p:nvPr>
            <p:ph idx="1" type="body"/>
          </p:nvPr>
        </p:nvSpPr>
        <p:spPr>
          <a:xfrm>
            <a:off x="311700" y="1155049"/>
            <a:ext cx="8520600" cy="358514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Lien Github : </a:t>
            </a:r>
            <a:r>
              <a:rPr lang="fr-FR" sz="1600" u="sng">
                <a:solidFill>
                  <a:schemeClr val="hlink"/>
                </a:solidFill>
                <a:hlinkClick r:id="rId4"/>
              </a:rPr>
              <a:t>https://github.com/Sheikoh/REnergies_efficiency_prediction_Lead.git</a:t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Lien Dashboard : </a:t>
            </a:r>
            <a:r>
              <a:rPr lang="fr-FR" sz="1600" u="sng">
                <a:solidFill>
                  <a:schemeClr val="hlink"/>
                </a:solidFill>
                <a:hlinkClick r:id="rId5"/>
              </a:rPr>
              <a:t>https://renergies99lead-dashboard-lead.hf.space/</a:t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Lien Mlflow : </a:t>
            </a:r>
            <a:r>
              <a:rPr lang="fr-FR" sz="1600" u="sng">
                <a:solidFill>
                  <a:schemeClr val="hlink"/>
                </a:solidFill>
                <a:hlinkClick r:id="rId6"/>
              </a:rPr>
              <a:t>https://renergies99lead-mlflow.hf.space/</a:t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fr-FR" sz="1600"/>
              <a:t>Lien API : </a:t>
            </a:r>
            <a:r>
              <a:rPr lang="fr-FR" sz="1600" u="sng">
                <a:solidFill>
                  <a:schemeClr val="hlink"/>
                </a:solidFill>
                <a:hlinkClick r:id="rId7"/>
              </a:rPr>
              <a:t>https://renergies99lead-api-renergy-lead.hf.space/</a:t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</p:txBody>
      </p:sp>
      <p:sp>
        <p:nvSpPr>
          <p:cNvPr id="291" name="Google Shape;291;p14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-FR" sz="25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Sources de données</a:t>
            </a:r>
            <a:endParaRPr/>
          </a:p>
        </p:txBody>
      </p:sp>
      <p:pic>
        <p:nvPicPr>
          <p:cNvPr id="297" name="Google Shape;2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9" name="Google Shape;299;p15"/>
          <p:cNvGraphicFramePr/>
          <p:nvPr/>
        </p:nvGraphicFramePr>
        <p:xfrm>
          <a:off x="463375" y="11600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{D6D7BE0B-EB57-4EAD-AF07-22A51F12AEA9}</a:tableStyleId>
              </a:tblPr>
              <a:tblGrid>
                <a:gridCol w="908225"/>
                <a:gridCol w="3031950"/>
                <a:gridCol w="2033250"/>
                <a:gridCol w="2309950"/>
              </a:tblGrid>
              <a:tr h="22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cap="none" strike="noStrike"/>
                        <a:t>Type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cap="none" strike="noStrike"/>
                        <a:t>Description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cap="none" strike="noStrike"/>
                        <a:t>Commentaires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u="none" cap="none" strike="noStrike"/>
                        <a:t>Lien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800" u="none" cap="none" strike="noStrike"/>
                        <a:t>Dataset</a:t>
                      </a:r>
                      <a:endParaRPr sz="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900" u="none" cap="none" strike="noStrike"/>
                        <a:t>Données de production RTE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u="none" cap="none" strike="noStrike"/>
                        <a:t>National : historique sur 14 ans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u="none" cap="none" strike="noStrike"/>
                        <a:t>Régional : historique sur 5 ans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https://www.rte-france.com/donnees-publications/eco2mix-donnees-temps-reel/telecharger-indicateurs</a:t>
                      </a:r>
                      <a:endParaRPr sz="700" u="none" cap="none" strike="noStrike"/>
                    </a:p>
                  </a:txBody>
                  <a:tcPr marT="45725" marB="45725" marR="91450" marL="91450" anchor="ctr"/>
                </a:tc>
              </a:tr>
              <a:tr h="47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Dataset</a:t>
                      </a:r>
                      <a:endParaRPr sz="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Imagerie satellite Landsat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u="none" cap="none" strike="noStrike"/>
                        <a:t>Images satellites et métadonnées 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u="sng" cap="none" strike="noStrike">
                          <a:solidFill>
                            <a:schemeClr val="hlink"/>
                          </a:solidFill>
                          <a:hlinkClick r:id="rId5"/>
                        </a:rPr>
                        <a:t>https://code.usgs.gov/eros-user-services/accessing_landsat_data</a:t>
                      </a:r>
                      <a:endParaRPr sz="700" u="none" cap="none" strike="noStrike"/>
                    </a:p>
                  </a:txBody>
                  <a:tcPr marT="45725" marB="45725" marR="91450" marL="91450" anchor="ctr"/>
                </a:tc>
              </a:tr>
              <a:tr h="558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API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fr-FR" sz="900" u="none" cap="none" strike="noStrike"/>
                        <a:t>Données météo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u="none" cap="none" strike="noStrike"/>
                        <a:t>Données historiques et données prédictives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u="sng" cap="none" strike="noStrike">
                          <a:solidFill>
                            <a:schemeClr val="hlink"/>
                          </a:solidFill>
                          <a:hlinkClick r:id="rId6"/>
                        </a:rPr>
                        <a:t>https://openweathermap.org/api/one-call-3</a:t>
                      </a:r>
                      <a:endParaRPr sz="700" u="none" cap="none" strike="noStrike"/>
                    </a:p>
                  </a:txBody>
                  <a:tcPr marT="45725" marB="45725" marR="91450" marL="91450" anchor="ctr"/>
                </a:tc>
              </a:tr>
              <a:tr h="558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fr-FR" sz="800" u="none" cap="none" strike="noStrike"/>
                        <a:t>Dataset</a:t>
                      </a:r>
                      <a:endParaRPr sz="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fr-FR" sz="900" u="none" cap="none" strike="noStrike"/>
                        <a:t>Données activité solaire 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fr-FR" sz="900" u="none" cap="none" strike="noStrike"/>
                        <a:t>Données historiques et données prédictives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u="sng" cap="none" strike="noStrike">
                          <a:solidFill>
                            <a:schemeClr val="hlink"/>
                          </a:solidFill>
                          <a:hlinkClick r:id="rId7"/>
                        </a:rPr>
                        <a:t>https://www.ngdc.noaa.gov/stp/space-weather/swpc-products/daily_reports/solar_geophysical_activity_summaries/</a:t>
                      </a:r>
                      <a:endParaRPr sz="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700" u="sng" cap="none" strike="noStrike">
                          <a:solidFill>
                            <a:schemeClr val="hlink"/>
                          </a:solidFill>
                          <a:hlinkClick r:id="rId8"/>
                        </a:rPr>
                        <a:t>https://www.ngdc.noaa.gov/stp/space-weather/swpc-products/daily_reports/daypre/</a:t>
                      </a:r>
                      <a:endParaRPr sz="7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00" name="Google Shape;300;p15"/>
          <p:cNvSpPr txBox="1"/>
          <p:nvPr>
            <p:ph idx="12" type="sldNum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</cp:coreProperties>
</file>